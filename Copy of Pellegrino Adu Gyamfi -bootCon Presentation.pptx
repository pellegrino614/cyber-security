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Nuni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bold.fntdata"/><Relationship Id="rId10" Type="http://schemas.openxmlformats.org/officeDocument/2006/relationships/slide" Target="slides/slide5.xml"/><Relationship Id="rId32" Type="http://schemas.openxmlformats.org/officeDocument/2006/relationships/font" Target="fonts/Nunito-regular.fntdata"/><Relationship Id="rId13" Type="http://schemas.openxmlformats.org/officeDocument/2006/relationships/slide" Target="slides/slide8.xml"/><Relationship Id="rId35" Type="http://schemas.openxmlformats.org/officeDocument/2006/relationships/font" Target="fonts/Nunito-boldItalic.fntdata"/><Relationship Id="rId12" Type="http://schemas.openxmlformats.org/officeDocument/2006/relationships/slide" Target="slides/slide7.xml"/><Relationship Id="rId34" Type="http://schemas.openxmlformats.org/officeDocument/2006/relationships/font" Target="fonts/Nuni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14d81bcc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614d81bcc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614d81bcc2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614d81bcc2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14d81bcc2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614d81bcc2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14d81bcc2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14d81bcc2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14d81bcc2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14d81bcc2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14d81bcc2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14d81bcc2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18175e3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18175e3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618175e34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618175e34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5bc7a1d6f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5bc7a1d6f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bc7a1d6f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bc7a1d6f9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bc7a1d6f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5bc7a1d6f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5bc7a1d6f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5bc7a1d6f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pfSense allows you to install additional features via packages such as: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fc687895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5fc687895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fc687895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fc687895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fc6878956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5fc6878956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5fc6878956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5fc6878956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fc687895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5fc687895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5fc687895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5fc687895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bf2b4468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bf2b4468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618bcfc00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618bcfc00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5ec6cf78f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5ec6cf78f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latin typeface="Nunito"/>
                <a:ea typeface="Nunito"/>
                <a:cs typeface="Nunito"/>
                <a:sym typeface="Nunito"/>
              </a:rPr>
              <a:t>KEY CONCEPTS: </a:t>
            </a:r>
            <a:endParaRPr b="1" sz="1200">
              <a:solidFill>
                <a:schemeClr val="dk1"/>
              </a:solidFill>
              <a:latin typeface="Nunito"/>
              <a:ea typeface="Nunito"/>
              <a:cs typeface="Nunito"/>
              <a:sym typeface="Nunito"/>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latin typeface="Nunito"/>
                <a:ea typeface="Nunito"/>
                <a:cs typeface="Nunito"/>
                <a:sym typeface="Nunito"/>
              </a:rPr>
              <a:t>Manual Configuration: The network administrator defines each route.</a:t>
            </a:r>
            <a:br>
              <a:rPr lang="en">
                <a:solidFill>
                  <a:schemeClr val="dk1"/>
                </a:solidFill>
                <a:latin typeface="Nunito"/>
                <a:ea typeface="Nunito"/>
                <a:cs typeface="Nunito"/>
                <a:sym typeface="Nunito"/>
              </a:rPr>
            </a:br>
            <a:endParaRPr>
              <a:solidFill>
                <a:schemeClr val="dk1"/>
              </a:solidFill>
              <a:latin typeface="Nunito"/>
              <a:ea typeface="Nunito"/>
              <a:cs typeface="Nunito"/>
              <a:sym typeface="Nunito"/>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Nunito"/>
                <a:ea typeface="Nunito"/>
                <a:cs typeface="Nunito"/>
                <a:sym typeface="Nunito"/>
              </a:rPr>
              <a:t>Fixed Paths: Once set, the path to a destination doesn’t change unless manually updated.</a:t>
            </a:r>
            <a:br>
              <a:rPr lang="en">
                <a:solidFill>
                  <a:schemeClr val="dk1"/>
                </a:solidFill>
                <a:latin typeface="Nunito"/>
                <a:ea typeface="Nunito"/>
                <a:cs typeface="Nunito"/>
                <a:sym typeface="Nunito"/>
              </a:rPr>
            </a:br>
            <a:endParaRPr>
              <a:solidFill>
                <a:schemeClr val="dk1"/>
              </a:solidFill>
              <a:latin typeface="Nunito"/>
              <a:ea typeface="Nunito"/>
              <a:cs typeface="Nunito"/>
              <a:sym typeface="Nunito"/>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Nunito"/>
                <a:ea typeface="Nunito"/>
                <a:cs typeface="Nunito"/>
                <a:sym typeface="Nunito"/>
              </a:rPr>
              <a:t>Next-Hop or Gateway: You must specify where the traffic should go next (usually an IP address or interface).</a:t>
            </a:r>
            <a:br>
              <a:rPr lang="en">
                <a:solidFill>
                  <a:schemeClr val="dk1"/>
                </a:solidFill>
                <a:latin typeface="Nunito"/>
                <a:ea typeface="Nunito"/>
                <a:cs typeface="Nunito"/>
                <a:sym typeface="Nunito"/>
              </a:rPr>
            </a:br>
            <a:endParaRPr b="1">
              <a:solidFill>
                <a:schemeClr val="dk1"/>
              </a:solidFill>
              <a:latin typeface="Nunito"/>
              <a:ea typeface="Nunito"/>
              <a:cs typeface="Nunito"/>
              <a:sym typeface="Nuni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ec6cf78f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5ec6cf78f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latin typeface="Nunito"/>
                <a:ea typeface="Nunito"/>
                <a:cs typeface="Nunito"/>
                <a:sym typeface="Nunito"/>
              </a:rPr>
              <a:t>Key Features of Dynamic Routing:</a:t>
            </a:r>
            <a:endParaRPr b="1" sz="1200">
              <a:solidFill>
                <a:schemeClr val="dk1"/>
              </a:solidFill>
              <a:latin typeface="Nunito"/>
              <a:ea typeface="Nunito"/>
              <a:cs typeface="Nunito"/>
              <a:sym typeface="Nunito"/>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latin typeface="Nunito"/>
                <a:ea typeface="Nunito"/>
                <a:cs typeface="Nunito"/>
                <a:sym typeface="Nunito"/>
              </a:rPr>
              <a:t>Automatic route updates based on changes in the network.</a:t>
            </a:r>
            <a:br>
              <a:rPr lang="en" sz="1000">
                <a:solidFill>
                  <a:schemeClr val="dk1"/>
                </a:solidFill>
                <a:latin typeface="Nunito"/>
                <a:ea typeface="Nunito"/>
                <a:cs typeface="Nunito"/>
                <a:sym typeface="Nunito"/>
              </a:rPr>
            </a:br>
            <a:endParaRPr sz="1000">
              <a:solidFill>
                <a:schemeClr val="dk1"/>
              </a:solidFill>
              <a:latin typeface="Nunito"/>
              <a:ea typeface="Nunito"/>
              <a:cs typeface="Nunito"/>
              <a:sym typeface="Nunito"/>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Nunito"/>
                <a:ea typeface="Nunito"/>
                <a:cs typeface="Nunito"/>
                <a:sym typeface="Nunito"/>
              </a:rPr>
              <a:t>Scalability for large, complex networks.</a:t>
            </a:r>
            <a:br>
              <a:rPr lang="en" sz="1000">
                <a:solidFill>
                  <a:schemeClr val="dk1"/>
                </a:solidFill>
                <a:latin typeface="Nunito"/>
                <a:ea typeface="Nunito"/>
                <a:cs typeface="Nunito"/>
                <a:sym typeface="Nunito"/>
              </a:rPr>
            </a:br>
            <a:endParaRPr sz="1000">
              <a:solidFill>
                <a:schemeClr val="dk1"/>
              </a:solidFill>
              <a:latin typeface="Nunito"/>
              <a:ea typeface="Nunito"/>
              <a:cs typeface="Nunito"/>
              <a:sym typeface="Nunito"/>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Nunito"/>
                <a:ea typeface="Nunito"/>
                <a:cs typeface="Nunito"/>
                <a:sym typeface="Nunito"/>
              </a:rPr>
              <a:t>Redundancy and failover, allowing for alternate paths if a link fails.</a:t>
            </a:r>
            <a:br>
              <a:rPr lang="en" sz="1000">
                <a:solidFill>
                  <a:schemeClr val="dk1"/>
                </a:solidFill>
                <a:latin typeface="Nunito"/>
                <a:ea typeface="Nunito"/>
                <a:cs typeface="Nunito"/>
                <a:sym typeface="Nunito"/>
              </a:rPr>
            </a:br>
            <a:endParaRPr sz="1000">
              <a:solidFill>
                <a:schemeClr val="dk1"/>
              </a:solidFill>
              <a:latin typeface="Nunito"/>
              <a:ea typeface="Nunito"/>
              <a:cs typeface="Nunito"/>
              <a:sym typeface="Nunito"/>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latin typeface="Nunito"/>
                <a:ea typeface="Nunito"/>
                <a:cs typeface="Nunito"/>
                <a:sym typeface="Nunito"/>
              </a:rPr>
              <a:t>Load balancing (in some protocols).</a:t>
            </a:r>
            <a:endParaRPr sz="1000">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rPr b="1" lang="en">
                <a:solidFill>
                  <a:schemeClr val="dk1"/>
                </a:solidFill>
                <a:latin typeface="Nunito"/>
                <a:ea typeface="Nunito"/>
                <a:cs typeface="Nunito"/>
                <a:sym typeface="Nunito"/>
              </a:rPr>
              <a:t>RIP- </a:t>
            </a:r>
            <a:r>
              <a:rPr lang="en">
                <a:solidFill>
                  <a:schemeClr val="dk1"/>
                </a:solidFill>
                <a:latin typeface="Nunito"/>
                <a:ea typeface="Nunito"/>
                <a:cs typeface="Nunito"/>
                <a:sym typeface="Nunito"/>
              </a:rPr>
              <a:t>Is used to dynamically share routing information within small or medium-sized internal networks.</a:t>
            </a:r>
            <a:endParaRPr>
              <a:solidFill>
                <a:schemeClr val="dk1"/>
              </a:solidFill>
              <a:latin typeface="Nunito"/>
              <a:ea typeface="Nunito"/>
              <a:cs typeface="Nunito"/>
              <a:sym typeface="Nunito"/>
            </a:endParaRPr>
          </a:p>
          <a:p>
            <a:pPr indent="0" lvl="0" marL="0" rtl="0" algn="l">
              <a:lnSpc>
                <a:spcPct val="115000"/>
              </a:lnSpc>
              <a:spcBef>
                <a:spcPts val="1200"/>
              </a:spcBef>
              <a:spcAft>
                <a:spcPts val="0"/>
              </a:spcAft>
              <a:buNone/>
            </a:pPr>
            <a:r>
              <a:rPr b="1" lang="en">
                <a:solidFill>
                  <a:schemeClr val="dk1"/>
                </a:solidFill>
              </a:rPr>
              <a:t>OSPF- </a:t>
            </a:r>
            <a:r>
              <a:rPr lang="en">
                <a:solidFill>
                  <a:schemeClr val="dk1"/>
                </a:solidFill>
              </a:rPr>
              <a:t>Is a link-state routing protocol</a:t>
            </a:r>
            <a:r>
              <a:rPr b="1" lang="en">
                <a:solidFill>
                  <a:schemeClr val="dk1"/>
                </a:solidFill>
              </a:rPr>
              <a:t> </a:t>
            </a:r>
            <a:r>
              <a:rPr lang="en">
                <a:solidFill>
                  <a:schemeClr val="dk1"/>
                </a:solidFill>
              </a:rPr>
              <a:t>used for routing data within a single organization or autonomous system.</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BGP-</a:t>
            </a:r>
            <a:r>
              <a:rPr lang="en">
                <a:solidFill>
                  <a:schemeClr val="dk1"/>
                </a:solidFill>
              </a:rPr>
              <a:t> Is the primary routing protocol used to exchange routing information between autonomous systems on the Internet.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FRR- </a:t>
            </a:r>
            <a:r>
              <a:rPr lang="en">
                <a:solidFill>
                  <a:schemeClr val="dk1"/>
                </a:solidFill>
              </a:rPr>
              <a:t>Is an open-source IP routing protocol suite designed for Unix/Linux systems. It provides high-performance, scalable implementations of both interior and exterior gateway protocols — and it can be integrated with pfSense to enhance its routing capabilities beyond the basic GUI features.</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br>
              <a:rPr lang="en" sz="1000">
                <a:solidFill>
                  <a:schemeClr val="dk1"/>
                </a:solidFill>
                <a:latin typeface="Nunito"/>
                <a:ea typeface="Nunito"/>
                <a:cs typeface="Nunito"/>
                <a:sym typeface="Nunito"/>
              </a:rPr>
            </a:br>
            <a:endParaRPr sz="1000">
              <a:solidFill>
                <a:schemeClr val="dk1"/>
              </a:solidFill>
              <a:latin typeface="Nunito"/>
              <a:ea typeface="Nunito"/>
              <a:cs typeface="Nunito"/>
              <a:sym typeface="Nunito"/>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18175e34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618175e34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618bcfc0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618bcfc0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14d81bcc2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14d81bcc2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drive.google.com/file/d/1f4f4yBP5-UqOz2yxu1_jZm21sZztJ29q/view" TargetMode="External"/><Relationship Id="rId4"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400"/>
              <a:t>Using Oracle Virtualbox</a:t>
            </a:r>
            <a:endParaRPr sz="2400"/>
          </a:p>
        </p:txBody>
      </p:sp>
      <p:sp>
        <p:nvSpPr>
          <p:cNvPr id="129" name="Google Shape;129;p13"/>
          <p:cNvSpPr txBox="1"/>
          <p:nvPr>
            <p:ph idx="1" type="subTitle"/>
          </p:nvPr>
        </p:nvSpPr>
        <p:spPr>
          <a:xfrm>
            <a:off x="1283300" y="3022125"/>
            <a:ext cx="6839100" cy="52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935"/>
              <a:buNone/>
            </a:pPr>
            <a:r>
              <a:rPr lang="en" sz="2360"/>
              <a:t>By: Abdiraham Aynab, Ben Widrig, Ernest Graham, Kayla Bunke, Pellegrino Adu Gymafi</a:t>
            </a:r>
            <a:endParaRPr sz="2360"/>
          </a:p>
        </p:txBody>
      </p:sp>
      <p:pic>
        <p:nvPicPr>
          <p:cNvPr id="130" name="Google Shape;130;p13"/>
          <p:cNvPicPr preferRelativeResize="0"/>
          <p:nvPr/>
        </p:nvPicPr>
        <p:blipFill>
          <a:blip r:embed="rId3">
            <a:alphaModFix/>
          </a:blip>
          <a:stretch>
            <a:fillRect/>
          </a:stretch>
        </p:blipFill>
        <p:spPr>
          <a:xfrm>
            <a:off x="1283325" y="1273350"/>
            <a:ext cx="6839050" cy="9596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Is pfSense and How to Install It</a:t>
            </a:r>
            <a:endParaRPr/>
          </a:p>
        </p:txBody>
      </p:sp>
      <p:sp>
        <p:nvSpPr>
          <p:cNvPr id="136" name="Google Shape;136;p14"/>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Kayla Bunke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pfSense</a:t>
            </a:r>
            <a:endParaRPr/>
          </a:p>
        </p:txBody>
      </p:sp>
      <p:sp>
        <p:nvSpPr>
          <p:cNvPr id="142" name="Google Shape;142;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An open source software used for network security and routing</a:t>
            </a:r>
            <a:endParaRPr sz="1800"/>
          </a:p>
          <a:p>
            <a:pPr indent="-342900" lvl="0" marL="457200" rtl="0" algn="l">
              <a:spcBef>
                <a:spcPts val="0"/>
              </a:spcBef>
              <a:spcAft>
                <a:spcPts val="0"/>
              </a:spcAft>
              <a:buSzPts val="1800"/>
              <a:buChar char="●"/>
            </a:pPr>
            <a:r>
              <a:rPr lang="en" sz="1800"/>
              <a:t>Is an enterprise-grade tool with many </a:t>
            </a:r>
            <a:r>
              <a:rPr lang="en" sz="1800"/>
              <a:t>capabilities</a:t>
            </a:r>
            <a:r>
              <a:rPr lang="en" sz="1800"/>
              <a:t> </a:t>
            </a:r>
            <a:endParaRPr sz="1800"/>
          </a:p>
          <a:p>
            <a:pPr indent="-342900" lvl="0" marL="457200" rtl="0" algn="l">
              <a:spcBef>
                <a:spcPts val="0"/>
              </a:spcBef>
              <a:spcAft>
                <a:spcPts val="0"/>
              </a:spcAft>
              <a:buSzPts val="1800"/>
              <a:buChar char="●"/>
            </a:pPr>
            <a:r>
              <a:rPr lang="en" sz="1800"/>
              <a:t>Can be used on hardware appliances or a virtual machine</a:t>
            </a:r>
            <a:endParaRPr sz="1800"/>
          </a:p>
          <a:p>
            <a:pPr indent="-342900" lvl="0" marL="457200" rtl="0" algn="l">
              <a:spcBef>
                <a:spcPts val="0"/>
              </a:spcBef>
              <a:spcAft>
                <a:spcPts val="0"/>
              </a:spcAft>
              <a:buSzPts val="1800"/>
              <a:buChar char="●"/>
            </a:pPr>
            <a:r>
              <a:rPr lang="en" sz="1800"/>
              <a:t>Is most commonly used as a firewall or router</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473250" y="4545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a:t>
            </a:r>
            <a:endParaRPr/>
          </a:p>
        </p:txBody>
      </p:sp>
      <p:pic>
        <p:nvPicPr>
          <p:cNvPr id="148" name="Google Shape;148;p16" title="Screenshot 2025-06-02 203215.png"/>
          <p:cNvPicPr preferRelativeResize="0"/>
          <p:nvPr/>
        </p:nvPicPr>
        <p:blipFill rotWithShape="1">
          <a:blip r:embed="rId3">
            <a:alphaModFix/>
          </a:blip>
          <a:srcRect b="9020" l="14208" r="13740" t="23711"/>
          <a:stretch/>
        </p:blipFill>
        <p:spPr>
          <a:xfrm>
            <a:off x="405250" y="976800"/>
            <a:ext cx="4983926" cy="2617299"/>
          </a:xfrm>
          <a:prstGeom prst="rect">
            <a:avLst/>
          </a:prstGeom>
          <a:noFill/>
          <a:ln>
            <a:noFill/>
          </a:ln>
        </p:spPr>
      </p:pic>
      <p:pic>
        <p:nvPicPr>
          <p:cNvPr id="149" name="Google Shape;149;p16" title="Screenshot 2025-06-04 152403.7zip.png"/>
          <p:cNvPicPr preferRelativeResize="0"/>
          <p:nvPr/>
        </p:nvPicPr>
        <p:blipFill rotWithShape="1">
          <a:blip r:embed="rId4">
            <a:alphaModFix/>
          </a:blip>
          <a:srcRect b="34938" l="0" r="21433" t="0"/>
          <a:stretch/>
        </p:blipFill>
        <p:spPr>
          <a:xfrm>
            <a:off x="3749846" y="2304850"/>
            <a:ext cx="5207974" cy="2323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type="title"/>
          </p:nvPr>
        </p:nvSpPr>
        <p:spPr>
          <a:xfrm>
            <a:off x="473250" y="4791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a:t>
            </a:r>
            <a:endParaRPr/>
          </a:p>
        </p:txBody>
      </p:sp>
      <p:pic>
        <p:nvPicPr>
          <p:cNvPr id="155" name="Google Shape;155;p17" title="Screenshot 2025-06-02 211530.png"/>
          <p:cNvPicPr preferRelativeResize="0"/>
          <p:nvPr/>
        </p:nvPicPr>
        <p:blipFill rotWithShape="1">
          <a:blip r:embed="rId3">
            <a:alphaModFix/>
          </a:blip>
          <a:srcRect b="85730" l="0" r="49349" t="0"/>
          <a:stretch/>
        </p:blipFill>
        <p:spPr>
          <a:xfrm>
            <a:off x="2992700" y="534225"/>
            <a:ext cx="5332150" cy="844525"/>
          </a:xfrm>
          <a:prstGeom prst="rect">
            <a:avLst/>
          </a:prstGeom>
          <a:noFill/>
          <a:ln>
            <a:noFill/>
          </a:ln>
        </p:spPr>
      </p:pic>
      <p:sp>
        <p:nvSpPr>
          <p:cNvPr id="156" name="Google Shape;156;p17"/>
          <p:cNvSpPr/>
          <p:nvPr/>
        </p:nvSpPr>
        <p:spPr>
          <a:xfrm>
            <a:off x="6203950" y="845600"/>
            <a:ext cx="344700" cy="397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Calibri"/>
              <a:ea typeface="Calibri"/>
              <a:cs typeface="Calibri"/>
              <a:sym typeface="Calibri"/>
            </a:endParaRPr>
          </a:p>
        </p:txBody>
      </p:sp>
      <p:pic>
        <p:nvPicPr>
          <p:cNvPr id="157" name="Google Shape;157;p17" title="Screenshot 2025-06-04 210805.png"/>
          <p:cNvPicPr preferRelativeResize="0"/>
          <p:nvPr/>
        </p:nvPicPr>
        <p:blipFill rotWithShape="1">
          <a:blip r:embed="rId4">
            <a:alphaModFix/>
          </a:blip>
          <a:srcRect b="29248" l="0" r="0" t="0"/>
          <a:stretch/>
        </p:blipFill>
        <p:spPr>
          <a:xfrm>
            <a:off x="819150" y="1511250"/>
            <a:ext cx="7505700" cy="31681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458200" y="4997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a:t>
            </a:r>
            <a:endParaRPr/>
          </a:p>
        </p:txBody>
      </p:sp>
      <p:pic>
        <p:nvPicPr>
          <p:cNvPr id="163" name="Google Shape;163;p18" title="Screenshot 2025-06-05 142659.png"/>
          <p:cNvPicPr preferRelativeResize="0"/>
          <p:nvPr/>
        </p:nvPicPr>
        <p:blipFill>
          <a:blip r:embed="rId3">
            <a:alphaModFix/>
          </a:blip>
          <a:stretch>
            <a:fillRect/>
          </a:stretch>
        </p:blipFill>
        <p:spPr>
          <a:xfrm>
            <a:off x="207550" y="1661675"/>
            <a:ext cx="4364450" cy="2705846"/>
          </a:xfrm>
          <a:prstGeom prst="rect">
            <a:avLst/>
          </a:prstGeom>
          <a:noFill/>
          <a:ln>
            <a:noFill/>
          </a:ln>
        </p:spPr>
      </p:pic>
      <p:pic>
        <p:nvPicPr>
          <p:cNvPr id="164" name="Google Shape;164;p18" title="Screenshot 2025-06-05 142754.png"/>
          <p:cNvPicPr preferRelativeResize="0"/>
          <p:nvPr/>
        </p:nvPicPr>
        <p:blipFill>
          <a:blip r:embed="rId4">
            <a:alphaModFix/>
          </a:blip>
          <a:stretch>
            <a:fillRect/>
          </a:stretch>
        </p:blipFill>
        <p:spPr>
          <a:xfrm>
            <a:off x="4572000" y="1661675"/>
            <a:ext cx="4364450" cy="27058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819150" y="506238"/>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a:t>
            </a:r>
            <a:endParaRPr/>
          </a:p>
        </p:txBody>
      </p:sp>
      <p:pic>
        <p:nvPicPr>
          <p:cNvPr id="170" name="Google Shape;170;p19" title="Screenshot 2025-06-05 144623.png"/>
          <p:cNvPicPr preferRelativeResize="0"/>
          <p:nvPr/>
        </p:nvPicPr>
        <p:blipFill>
          <a:blip r:embed="rId3">
            <a:alphaModFix/>
          </a:blip>
          <a:stretch>
            <a:fillRect/>
          </a:stretch>
        </p:blipFill>
        <p:spPr>
          <a:xfrm>
            <a:off x="819150" y="1037225"/>
            <a:ext cx="3491700" cy="1755752"/>
          </a:xfrm>
          <a:prstGeom prst="rect">
            <a:avLst/>
          </a:prstGeom>
          <a:noFill/>
          <a:ln>
            <a:noFill/>
          </a:ln>
        </p:spPr>
      </p:pic>
      <p:pic>
        <p:nvPicPr>
          <p:cNvPr id="171" name="Google Shape;171;p19" title="Screenshot 2025-06-05 144701.png"/>
          <p:cNvPicPr preferRelativeResize="0"/>
          <p:nvPr/>
        </p:nvPicPr>
        <p:blipFill>
          <a:blip r:embed="rId4">
            <a:alphaModFix/>
          </a:blip>
          <a:stretch>
            <a:fillRect/>
          </a:stretch>
        </p:blipFill>
        <p:spPr>
          <a:xfrm>
            <a:off x="4691387" y="1037234"/>
            <a:ext cx="3491675" cy="1827741"/>
          </a:xfrm>
          <a:prstGeom prst="rect">
            <a:avLst/>
          </a:prstGeom>
          <a:noFill/>
          <a:ln>
            <a:noFill/>
          </a:ln>
        </p:spPr>
      </p:pic>
      <p:pic>
        <p:nvPicPr>
          <p:cNvPr id="172" name="Google Shape;172;p19" title="Screenshot 2025-06-05 144802.png"/>
          <p:cNvPicPr preferRelativeResize="0"/>
          <p:nvPr/>
        </p:nvPicPr>
        <p:blipFill>
          <a:blip r:embed="rId5">
            <a:alphaModFix/>
          </a:blip>
          <a:stretch>
            <a:fillRect/>
          </a:stretch>
        </p:blipFill>
        <p:spPr>
          <a:xfrm>
            <a:off x="819150" y="2897625"/>
            <a:ext cx="3261600" cy="1890432"/>
          </a:xfrm>
          <a:prstGeom prst="rect">
            <a:avLst/>
          </a:prstGeom>
          <a:noFill/>
          <a:ln>
            <a:noFill/>
          </a:ln>
        </p:spPr>
      </p:pic>
      <p:pic>
        <p:nvPicPr>
          <p:cNvPr id="173" name="Google Shape;173;p19" title="Screenshot 2025-06-05 144936.png"/>
          <p:cNvPicPr preferRelativeResize="0"/>
          <p:nvPr/>
        </p:nvPicPr>
        <p:blipFill>
          <a:blip r:embed="rId6">
            <a:alphaModFix/>
          </a:blip>
          <a:stretch>
            <a:fillRect/>
          </a:stretch>
        </p:blipFill>
        <p:spPr>
          <a:xfrm>
            <a:off x="4385025" y="3046475"/>
            <a:ext cx="3798057" cy="1741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458200" y="4689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a:t>
            </a:r>
            <a:endParaRPr/>
          </a:p>
        </p:txBody>
      </p:sp>
      <p:pic>
        <p:nvPicPr>
          <p:cNvPr id="179" name="Google Shape;179;p20" title="Screenshot 2025-06-05 151922.png"/>
          <p:cNvPicPr preferRelativeResize="0"/>
          <p:nvPr/>
        </p:nvPicPr>
        <p:blipFill>
          <a:blip r:embed="rId3">
            <a:alphaModFix/>
          </a:blip>
          <a:stretch>
            <a:fillRect/>
          </a:stretch>
        </p:blipFill>
        <p:spPr>
          <a:xfrm>
            <a:off x="458200" y="1417198"/>
            <a:ext cx="5152024" cy="3194101"/>
          </a:xfrm>
          <a:prstGeom prst="rect">
            <a:avLst/>
          </a:prstGeom>
          <a:noFill/>
          <a:ln>
            <a:noFill/>
          </a:ln>
        </p:spPr>
      </p:pic>
      <p:pic>
        <p:nvPicPr>
          <p:cNvPr id="180" name="Google Shape;180;p20" title="Screenshot 2025-06-05 151355.png"/>
          <p:cNvPicPr preferRelativeResize="0"/>
          <p:nvPr/>
        </p:nvPicPr>
        <p:blipFill>
          <a:blip r:embed="rId4">
            <a:alphaModFix/>
          </a:blip>
          <a:stretch>
            <a:fillRect/>
          </a:stretch>
        </p:blipFill>
        <p:spPr>
          <a:xfrm>
            <a:off x="3559450" y="468938"/>
            <a:ext cx="4886325" cy="1971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ctrTitle"/>
          </p:nvPr>
        </p:nvSpPr>
        <p:spPr>
          <a:xfrm>
            <a:off x="1622153" y="2052508"/>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t>
            </a:r>
            <a:r>
              <a:rPr lang="en"/>
              <a:t>fSense as a Firewall</a:t>
            </a:r>
            <a:endParaRPr/>
          </a:p>
        </p:txBody>
      </p:sp>
      <p:sp>
        <p:nvSpPr>
          <p:cNvPr id="186" name="Google Shape;186;p21"/>
          <p:cNvSpPr txBox="1"/>
          <p:nvPr>
            <p:ph idx="1" type="subTitle"/>
          </p:nvPr>
        </p:nvSpPr>
        <p:spPr>
          <a:xfrm>
            <a:off x="1858700" y="3403283"/>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Pellegrino Adu Gyamfi</a:t>
            </a:r>
            <a:endParaRPr/>
          </a:p>
        </p:txBody>
      </p:sp>
      <p:pic>
        <p:nvPicPr>
          <p:cNvPr id="187" name="Google Shape;187;p21"/>
          <p:cNvPicPr preferRelativeResize="0"/>
          <p:nvPr/>
        </p:nvPicPr>
        <p:blipFill>
          <a:blip r:embed="rId3">
            <a:alphaModFix/>
          </a:blip>
          <a:stretch>
            <a:fillRect/>
          </a:stretch>
        </p:blipFill>
        <p:spPr>
          <a:xfrm>
            <a:off x="1858700" y="1300225"/>
            <a:ext cx="5361300" cy="7522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What is a Firewall?</a:t>
            </a:r>
            <a:endParaRPr/>
          </a:p>
        </p:txBody>
      </p:sp>
      <p:sp>
        <p:nvSpPr>
          <p:cNvPr id="193" name="Google Shape;193;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Nunito"/>
              <a:buChar char="●"/>
            </a:pPr>
            <a:r>
              <a:rPr lang="en" sz="1800">
                <a:solidFill>
                  <a:srgbClr val="000000"/>
                </a:solidFill>
                <a:latin typeface="Nunito"/>
                <a:ea typeface="Nunito"/>
                <a:cs typeface="Nunito"/>
                <a:sym typeface="Nunito"/>
              </a:rPr>
              <a:t>A device or software that </a:t>
            </a:r>
            <a:r>
              <a:rPr lang="en" sz="1800">
                <a:solidFill>
                  <a:srgbClr val="000000"/>
                </a:solidFill>
                <a:latin typeface="Nunito"/>
                <a:ea typeface="Nunito"/>
                <a:cs typeface="Nunito"/>
                <a:sym typeface="Nunito"/>
              </a:rPr>
              <a:t>controls</a:t>
            </a:r>
            <a:r>
              <a:rPr lang="en" sz="1800">
                <a:solidFill>
                  <a:srgbClr val="000000"/>
                </a:solidFill>
                <a:latin typeface="Nunito"/>
                <a:ea typeface="Nunito"/>
                <a:cs typeface="Nunito"/>
                <a:sym typeface="Nunito"/>
              </a:rPr>
              <a:t> incoming and outgoing traffic based on rules</a:t>
            </a:r>
            <a:endParaRPr sz="1800">
              <a:solidFill>
                <a:srgbClr val="000000"/>
              </a:solidFill>
              <a:latin typeface="Nunito"/>
              <a:ea typeface="Nunito"/>
              <a:cs typeface="Nunito"/>
              <a:sym typeface="Nunito"/>
            </a:endParaRPr>
          </a:p>
          <a:p>
            <a:pPr indent="-342900" lvl="1" marL="914400" rtl="0" algn="l">
              <a:spcBef>
                <a:spcPts val="0"/>
              </a:spcBef>
              <a:spcAft>
                <a:spcPts val="0"/>
              </a:spcAft>
              <a:buClr>
                <a:srgbClr val="000000"/>
              </a:buClr>
              <a:buSzPts val="1800"/>
              <a:buFont typeface="Nunito"/>
              <a:buChar char="○"/>
            </a:pPr>
            <a:r>
              <a:rPr lang="en" sz="1800">
                <a:solidFill>
                  <a:srgbClr val="000000"/>
                </a:solidFill>
                <a:latin typeface="Nunito"/>
                <a:ea typeface="Nunito"/>
                <a:cs typeface="Nunito"/>
                <a:sym typeface="Nunito"/>
              </a:rPr>
              <a:t>Prevents unauthorized access </a:t>
            </a:r>
            <a:endParaRPr sz="1800">
              <a:solidFill>
                <a:srgbClr val="000000"/>
              </a:solidFill>
              <a:latin typeface="Nunito"/>
              <a:ea typeface="Nunito"/>
              <a:cs typeface="Nunito"/>
              <a:sym typeface="Nunito"/>
            </a:endParaRPr>
          </a:p>
          <a:p>
            <a:pPr indent="-342900" lvl="1" marL="914400" rtl="0" algn="l">
              <a:spcBef>
                <a:spcPts val="0"/>
              </a:spcBef>
              <a:spcAft>
                <a:spcPts val="0"/>
              </a:spcAft>
              <a:buClr>
                <a:srgbClr val="000000"/>
              </a:buClr>
              <a:buSzPts val="1800"/>
              <a:buFont typeface="Nunito"/>
              <a:buChar char="○"/>
            </a:pPr>
            <a:r>
              <a:rPr lang="en" sz="1800">
                <a:solidFill>
                  <a:srgbClr val="000000"/>
                </a:solidFill>
                <a:latin typeface="Nunito"/>
                <a:ea typeface="Nunito"/>
                <a:cs typeface="Nunito"/>
                <a:sym typeface="Nunito"/>
              </a:rPr>
              <a:t>Packet Inspection</a:t>
            </a:r>
            <a:endParaRPr sz="1800">
              <a:solidFill>
                <a:srgbClr val="000000"/>
              </a:solidFill>
              <a:latin typeface="Nunito"/>
              <a:ea typeface="Nunito"/>
              <a:cs typeface="Nunito"/>
              <a:sym typeface="Nunito"/>
            </a:endParaRPr>
          </a:p>
          <a:p>
            <a:pPr indent="-342900" lvl="1" marL="914400" rtl="0" algn="l">
              <a:spcBef>
                <a:spcPts val="0"/>
              </a:spcBef>
              <a:spcAft>
                <a:spcPts val="0"/>
              </a:spcAft>
              <a:buClr>
                <a:srgbClr val="000000"/>
              </a:buClr>
              <a:buSzPts val="1800"/>
              <a:buFont typeface="Nunito"/>
              <a:buChar char="○"/>
            </a:pPr>
            <a:r>
              <a:rPr lang="en" sz="1800">
                <a:solidFill>
                  <a:srgbClr val="000000"/>
                </a:solidFill>
                <a:latin typeface="Nunito"/>
                <a:ea typeface="Nunito"/>
                <a:cs typeface="Nunito"/>
                <a:sym typeface="Nunito"/>
              </a:rPr>
              <a:t>Monitors traffic</a:t>
            </a:r>
            <a:endParaRPr sz="1800">
              <a:solidFill>
                <a:srgbClr val="000000"/>
              </a:solidFill>
              <a:latin typeface="Nunito"/>
              <a:ea typeface="Nunito"/>
              <a:cs typeface="Nunito"/>
              <a:sym typeface="Nunito"/>
            </a:endParaRPr>
          </a:p>
        </p:txBody>
      </p:sp>
      <p:pic>
        <p:nvPicPr>
          <p:cNvPr id="194" name="Google Shape;194;p22"/>
          <p:cNvPicPr preferRelativeResize="0"/>
          <p:nvPr/>
        </p:nvPicPr>
        <p:blipFill>
          <a:blip r:embed="rId3">
            <a:alphaModFix/>
          </a:blip>
          <a:stretch>
            <a:fillRect/>
          </a:stretch>
        </p:blipFill>
        <p:spPr>
          <a:xfrm>
            <a:off x="281109" y="388400"/>
            <a:ext cx="2509866" cy="1411799"/>
          </a:xfrm>
          <a:prstGeom prst="rect">
            <a:avLst/>
          </a:prstGeom>
          <a:noFill/>
          <a:ln>
            <a:noFill/>
          </a:ln>
        </p:spPr>
      </p:pic>
      <p:pic>
        <p:nvPicPr>
          <p:cNvPr descr="a man in a green and blue jacket stands next to another man (Provided by Tenor)" id="195" name="Google Shape;195;p22"/>
          <p:cNvPicPr preferRelativeResize="0"/>
          <p:nvPr/>
        </p:nvPicPr>
        <p:blipFill>
          <a:blip r:embed="rId4">
            <a:alphaModFix/>
          </a:blip>
          <a:stretch>
            <a:fillRect/>
          </a:stretch>
        </p:blipFill>
        <p:spPr>
          <a:xfrm>
            <a:off x="5228800" y="2571750"/>
            <a:ext cx="2810100" cy="2271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How is pfSense used as a Firewall?</a:t>
            </a:r>
            <a:endParaRPr/>
          </a:p>
        </p:txBody>
      </p:sp>
      <p:sp>
        <p:nvSpPr>
          <p:cNvPr id="201" name="Google Shape;201;p23"/>
          <p:cNvSpPr txBox="1"/>
          <p:nvPr>
            <p:ph idx="1" type="body"/>
          </p:nvPr>
        </p:nvSpPr>
        <p:spPr>
          <a:xfrm>
            <a:off x="819150" y="1692900"/>
            <a:ext cx="7505700" cy="1757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solidFill>
                  <a:srgbClr val="000000"/>
                </a:solidFill>
                <a:latin typeface="Nunito"/>
                <a:ea typeface="Nunito"/>
                <a:cs typeface="Nunito"/>
                <a:sym typeface="Nunito"/>
              </a:rPr>
              <a:t>You can use pfSense as a firewall by configuring it to control and monitor network traffic between your Local </a:t>
            </a:r>
            <a:r>
              <a:rPr lang="en" sz="1800">
                <a:solidFill>
                  <a:srgbClr val="000000"/>
                </a:solidFill>
                <a:latin typeface="Nunito"/>
                <a:ea typeface="Nunito"/>
                <a:cs typeface="Nunito"/>
                <a:sym typeface="Nunito"/>
              </a:rPr>
              <a:t>Area</a:t>
            </a:r>
            <a:r>
              <a:rPr lang="en" sz="1800">
                <a:solidFill>
                  <a:srgbClr val="000000"/>
                </a:solidFill>
                <a:latin typeface="Nunito"/>
                <a:ea typeface="Nunito"/>
                <a:cs typeface="Nunito"/>
                <a:sym typeface="Nunito"/>
              </a:rPr>
              <a:t> Network (LAN) and External Area Networks (WAN). pfSense uses stateful packet inspection, meaning it tracks active connections and allows only permitted traffic based on defined firewall rules.</a:t>
            </a:r>
            <a:endParaRPr sz="1800">
              <a:latin typeface="Nunito"/>
              <a:ea typeface="Nunito"/>
              <a:cs typeface="Nunito"/>
              <a:sym typeface="Nunito"/>
            </a:endParaRPr>
          </a:p>
        </p:txBody>
      </p:sp>
      <p:pic>
        <p:nvPicPr>
          <p:cNvPr descr="a green radar screen shows the word detect in the center (Provided by Tenor)" id="202" name="Google Shape;202;p23"/>
          <p:cNvPicPr preferRelativeResize="0"/>
          <p:nvPr/>
        </p:nvPicPr>
        <p:blipFill>
          <a:blip r:embed="rId3">
            <a:alphaModFix/>
          </a:blip>
          <a:stretch>
            <a:fillRect/>
          </a:stretch>
        </p:blipFill>
        <p:spPr>
          <a:xfrm>
            <a:off x="819150" y="3450600"/>
            <a:ext cx="7505700" cy="1258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900800" y="498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Topography of pfSense used in a Network</a:t>
            </a:r>
            <a:endParaRPr/>
          </a:p>
        </p:txBody>
      </p:sp>
      <p:sp>
        <p:nvSpPr>
          <p:cNvPr id="208" name="Google Shape;208;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9" name="Google Shape;209;p24" title="pfsense-diagram-dual.png"/>
          <p:cNvPicPr preferRelativeResize="0"/>
          <p:nvPr/>
        </p:nvPicPr>
        <p:blipFill>
          <a:blip r:embed="rId3">
            <a:alphaModFix/>
          </a:blip>
          <a:stretch>
            <a:fillRect/>
          </a:stretch>
        </p:blipFill>
        <p:spPr>
          <a:xfrm>
            <a:off x="819150" y="1453200"/>
            <a:ext cx="7505702" cy="3318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819150" y="39315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700"/>
              <a:t>Advanced Firewall Features in pfSense</a:t>
            </a:r>
            <a:endParaRPr sz="2700"/>
          </a:p>
        </p:txBody>
      </p:sp>
      <p:sp>
        <p:nvSpPr>
          <p:cNvPr id="215" name="Google Shape;215;p25"/>
          <p:cNvSpPr txBox="1"/>
          <p:nvPr>
            <p:ph idx="1" type="body"/>
          </p:nvPr>
        </p:nvSpPr>
        <p:spPr>
          <a:xfrm>
            <a:off x="819150" y="1000750"/>
            <a:ext cx="7505700" cy="354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solidFill>
                  <a:srgbClr val="000000"/>
                </a:solidFill>
                <a:latin typeface="Arial"/>
                <a:ea typeface="Arial"/>
                <a:cs typeface="Arial"/>
                <a:sym typeface="Arial"/>
              </a:rPr>
              <a:t>Port Forwarding &amp; IP Rules: </a:t>
            </a:r>
            <a:r>
              <a:rPr lang="en" sz="1800">
                <a:solidFill>
                  <a:srgbClr val="000000"/>
                </a:solidFill>
                <a:latin typeface="Arial"/>
                <a:ea typeface="Arial"/>
                <a:cs typeface="Arial"/>
                <a:sym typeface="Arial"/>
              </a:rPr>
              <a:t>Easily manage access to internal services by forwarding ports and controlling traffic based on IP addresses.</a:t>
            </a:r>
            <a:endParaRPr sz="1800">
              <a:solidFill>
                <a:srgbClr val="000000"/>
              </a:solidFill>
              <a:latin typeface="Arial"/>
              <a:ea typeface="Arial"/>
              <a:cs typeface="Arial"/>
              <a:sym typeface="Arial"/>
            </a:endParaRPr>
          </a:p>
          <a:p>
            <a:pPr indent="0" lvl="0" marL="0" rtl="0" algn="l">
              <a:spcBef>
                <a:spcPts val="1200"/>
              </a:spcBef>
              <a:spcAft>
                <a:spcPts val="0"/>
              </a:spcAft>
              <a:buNone/>
            </a:pPr>
            <a:r>
              <a:rPr b="1" lang="en" sz="1800">
                <a:solidFill>
                  <a:srgbClr val="000000"/>
                </a:solidFill>
                <a:latin typeface="Arial"/>
                <a:ea typeface="Arial"/>
                <a:cs typeface="Arial"/>
                <a:sym typeface="Arial"/>
              </a:rPr>
              <a:t>Floating Rules: </a:t>
            </a:r>
            <a:r>
              <a:rPr lang="en" sz="1800">
                <a:solidFill>
                  <a:srgbClr val="000000"/>
                </a:solidFill>
                <a:latin typeface="Arial"/>
                <a:ea typeface="Arial"/>
                <a:cs typeface="Arial"/>
                <a:sym typeface="Arial"/>
              </a:rPr>
              <a:t>Apply firewall rules across multiple interfaces for consistent security policies across your entire network.</a:t>
            </a:r>
            <a:endParaRPr sz="1800">
              <a:solidFill>
                <a:srgbClr val="000000"/>
              </a:solidFill>
              <a:latin typeface="Arial"/>
              <a:ea typeface="Arial"/>
              <a:cs typeface="Arial"/>
              <a:sym typeface="Arial"/>
            </a:endParaRPr>
          </a:p>
          <a:p>
            <a:pPr indent="0" lvl="0" marL="0" rtl="0" algn="l">
              <a:spcBef>
                <a:spcPts val="1200"/>
              </a:spcBef>
              <a:spcAft>
                <a:spcPts val="0"/>
              </a:spcAft>
              <a:buNone/>
            </a:pPr>
            <a:r>
              <a:rPr b="1" lang="en" sz="1800">
                <a:solidFill>
                  <a:srgbClr val="000000"/>
                </a:solidFill>
                <a:latin typeface="Arial"/>
                <a:ea typeface="Arial"/>
                <a:cs typeface="Arial"/>
                <a:sym typeface="Arial"/>
              </a:rPr>
              <a:t>pfBlockerNG: </a:t>
            </a:r>
            <a:r>
              <a:rPr lang="en" sz="1800">
                <a:solidFill>
                  <a:srgbClr val="000000"/>
                </a:solidFill>
                <a:latin typeface="Arial"/>
                <a:ea typeface="Arial"/>
                <a:cs typeface="Arial"/>
                <a:sym typeface="Arial"/>
              </a:rPr>
              <a:t>an</a:t>
            </a:r>
            <a:r>
              <a:rPr b="1" lang="en" sz="1800">
                <a:solidFill>
                  <a:srgbClr val="000000"/>
                </a:solidFill>
                <a:latin typeface="Arial"/>
                <a:ea typeface="Arial"/>
                <a:cs typeface="Arial"/>
                <a:sym typeface="Arial"/>
              </a:rPr>
              <a:t> </a:t>
            </a:r>
            <a:r>
              <a:rPr lang="en" sz="1800">
                <a:solidFill>
                  <a:srgbClr val="000000"/>
                </a:solidFill>
                <a:latin typeface="Arial"/>
                <a:ea typeface="Arial"/>
                <a:cs typeface="Arial"/>
                <a:sym typeface="Arial"/>
              </a:rPr>
              <a:t>add-on package that allows you to block ads, malware, malicious domains, and even entire countries</a:t>
            </a:r>
            <a:endParaRPr sz="1800">
              <a:solidFill>
                <a:srgbClr val="000000"/>
              </a:solidFill>
              <a:latin typeface="Arial"/>
              <a:ea typeface="Arial"/>
              <a:cs typeface="Arial"/>
              <a:sym typeface="Arial"/>
            </a:endParaRPr>
          </a:p>
          <a:p>
            <a:pPr indent="0" lvl="0" marL="0" rtl="0" algn="l">
              <a:spcBef>
                <a:spcPts val="1200"/>
              </a:spcBef>
              <a:spcAft>
                <a:spcPts val="1200"/>
              </a:spcAft>
              <a:buNone/>
            </a:pPr>
            <a:r>
              <a:rPr b="1" lang="en" sz="1800">
                <a:solidFill>
                  <a:srgbClr val="000000"/>
                </a:solidFill>
                <a:latin typeface="Arial"/>
                <a:ea typeface="Arial"/>
                <a:cs typeface="Arial"/>
                <a:sym typeface="Arial"/>
              </a:rPr>
              <a:t>Scheduled Rules: </a:t>
            </a:r>
            <a:r>
              <a:rPr lang="en" sz="1800">
                <a:solidFill>
                  <a:srgbClr val="000000"/>
                </a:solidFill>
                <a:latin typeface="Arial"/>
                <a:ea typeface="Arial"/>
                <a:cs typeface="Arial"/>
                <a:sym typeface="Arial"/>
              </a:rPr>
              <a:t>Create rules that automatically activate or deactivate based on time—like blocking internet access at night.</a:t>
            </a:r>
            <a:endParaRPr sz="18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900"/>
              <a:t>                  </a:t>
            </a:r>
            <a:r>
              <a:rPr lang="en" sz="2900">
                <a:solidFill>
                  <a:schemeClr val="lt1"/>
                </a:solidFill>
                <a:latin typeface="Nunito"/>
                <a:ea typeface="Nunito"/>
                <a:cs typeface="Nunito"/>
                <a:sym typeface="Nunito"/>
              </a:rPr>
              <a:t>Creating a VPN with pfSense </a:t>
            </a:r>
            <a:endParaRPr sz="2900">
              <a:solidFill>
                <a:schemeClr val="lt1"/>
              </a:solidFill>
              <a:latin typeface="Nunito"/>
              <a:ea typeface="Nunito"/>
              <a:cs typeface="Nunito"/>
              <a:sym typeface="Nunito"/>
            </a:endParaRPr>
          </a:p>
          <a:p>
            <a:pPr indent="0" lvl="0" marL="0" rtl="0" algn="l">
              <a:spcBef>
                <a:spcPts val="1200"/>
              </a:spcBef>
              <a:spcAft>
                <a:spcPts val="0"/>
              </a:spcAft>
              <a:buNone/>
            </a:pPr>
            <a:r>
              <a:t/>
            </a:r>
            <a:endParaRPr sz="2900"/>
          </a:p>
          <a:p>
            <a:pPr indent="0" lvl="0" marL="0" rtl="0" algn="l">
              <a:spcBef>
                <a:spcPts val="1200"/>
              </a:spcBef>
              <a:spcAft>
                <a:spcPts val="0"/>
              </a:spcAft>
              <a:buNone/>
            </a:pPr>
            <a:r>
              <a:t/>
            </a:r>
            <a:endParaRPr sz="2900"/>
          </a:p>
          <a:p>
            <a:pPr indent="0" lvl="0" marL="0" rtl="0" algn="l">
              <a:spcBef>
                <a:spcPts val="1200"/>
              </a:spcBef>
              <a:spcAft>
                <a:spcPts val="1200"/>
              </a:spcAft>
              <a:buNone/>
            </a:pPr>
            <a:r>
              <a:rPr lang="en" sz="1600">
                <a:solidFill>
                  <a:schemeClr val="lt1"/>
                </a:solidFill>
                <a:latin typeface="Nunito"/>
                <a:ea typeface="Nunito"/>
                <a:cs typeface="Nunito"/>
                <a:sym typeface="Nunito"/>
              </a:rPr>
              <a:t>By Ernest Graham</a:t>
            </a:r>
            <a:endParaRPr sz="1600">
              <a:solidFill>
                <a:schemeClr val="lt1"/>
              </a:solidFill>
              <a:latin typeface="Nunito"/>
              <a:ea typeface="Nunito"/>
              <a:cs typeface="Nunito"/>
              <a:sym typeface="Nunito"/>
            </a:endParaRPr>
          </a:p>
        </p:txBody>
      </p:sp>
      <p:pic>
        <p:nvPicPr>
          <p:cNvPr id="221" name="Google Shape;221;p26"/>
          <p:cNvPicPr preferRelativeResize="0"/>
          <p:nvPr/>
        </p:nvPicPr>
        <p:blipFill>
          <a:blip r:embed="rId3">
            <a:alphaModFix/>
          </a:blip>
          <a:stretch>
            <a:fillRect/>
          </a:stretch>
        </p:blipFill>
        <p:spPr>
          <a:xfrm>
            <a:off x="1499150" y="1036129"/>
            <a:ext cx="5361300" cy="954600"/>
          </a:xfrm>
          <a:prstGeom prst="rect">
            <a:avLst/>
          </a:prstGeom>
          <a:noFill/>
          <a:ln>
            <a:noFill/>
          </a:ln>
        </p:spPr>
      </p:pic>
      <p:pic>
        <p:nvPicPr>
          <p:cNvPr id="222" name="Google Shape;222;p26"/>
          <p:cNvPicPr preferRelativeResize="0"/>
          <p:nvPr/>
        </p:nvPicPr>
        <p:blipFill>
          <a:blip r:embed="rId4">
            <a:alphaModFix/>
          </a:blip>
          <a:stretch>
            <a:fillRect/>
          </a:stretch>
        </p:blipFill>
        <p:spPr>
          <a:xfrm>
            <a:off x="2633750" y="2639531"/>
            <a:ext cx="5829300" cy="179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Whole network VPN </a:t>
            </a:r>
            <a:endParaRPr/>
          </a:p>
        </p:txBody>
      </p:sp>
      <p:sp>
        <p:nvSpPr>
          <p:cNvPr id="228" name="Google Shape;228;p27"/>
          <p:cNvSpPr txBox="1"/>
          <p:nvPr>
            <p:ph idx="1" type="body"/>
          </p:nvPr>
        </p:nvSpPr>
        <p:spPr>
          <a:xfrm>
            <a:off x="612175" y="1476225"/>
            <a:ext cx="7712700" cy="294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p</a:t>
            </a:r>
            <a:r>
              <a:rPr lang="en" sz="1800"/>
              <a:t>fSense VPN refers to using the pfSense firewall/router operating system to manage or create a VPN (Virtual Private Network). </a:t>
            </a:r>
            <a:endParaRPr sz="1800"/>
          </a:p>
          <a:p>
            <a:pPr indent="0" lvl="0" marL="0" rtl="0" algn="l">
              <a:spcBef>
                <a:spcPts val="1200"/>
              </a:spcBef>
              <a:spcAft>
                <a:spcPts val="1200"/>
              </a:spcAft>
              <a:buNone/>
            </a:pPr>
            <a:r>
              <a:rPr lang="en" sz="1800"/>
              <a:t>Instead of having to download and configure OpenVPN clients on each of your devices you can just configure it once on </a:t>
            </a:r>
            <a:r>
              <a:rPr lang="en" sz="1800"/>
              <a:t>your</a:t>
            </a:r>
            <a:r>
              <a:rPr lang="en" sz="1800"/>
              <a:t> pfSense router and you’ll never have to worry about browsing unprotected again. </a:t>
            </a:r>
            <a:endParaRPr sz="1800"/>
          </a:p>
        </p:txBody>
      </p:sp>
      <p:pic>
        <p:nvPicPr>
          <p:cNvPr id="229" name="Google Shape;229;p27"/>
          <p:cNvPicPr preferRelativeResize="0"/>
          <p:nvPr/>
        </p:nvPicPr>
        <p:blipFill>
          <a:blip r:embed="rId3">
            <a:alphaModFix/>
          </a:blip>
          <a:stretch>
            <a:fillRect/>
          </a:stretch>
        </p:blipFill>
        <p:spPr>
          <a:xfrm>
            <a:off x="522750" y="3305450"/>
            <a:ext cx="7712675" cy="15532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Types of VPN in PfSense</a:t>
            </a:r>
            <a:endParaRPr/>
          </a:p>
        </p:txBody>
      </p:sp>
      <p:sp>
        <p:nvSpPr>
          <p:cNvPr id="235" name="Google Shape;235;p28"/>
          <p:cNvSpPr txBox="1"/>
          <p:nvPr>
            <p:ph idx="1" type="body"/>
          </p:nvPr>
        </p:nvSpPr>
        <p:spPr>
          <a:xfrm>
            <a:off x="819150" y="197327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OpenVPN</a:t>
            </a:r>
            <a:r>
              <a:rPr lang="en" sz="1700"/>
              <a:t> (Most Common) - Secure and flexible </a:t>
            </a:r>
            <a:endParaRPr sz="1700"/>
          </a:p>
          <a:p>
            <a:pPr indent="0" lvl="0" marL="0" rtl="0" algn="l">
              <a:spcBef>
                <a:spcPts val="1200"/>
              </a:spcBef>
              <a:spcAft>
                <a:spcPts val="0"/>
              </a:spcAft>
              <a:buNone/>
            </a:pPr>
            <a:r>
              <a:rPr lang="en" sz="1700"/>
              <a:t>Works well with mobile, desktop and site-to site-connections.</a:t>
            </a:r>
            <a:endParaRPr sz="1700"/>
          </a:p>
          <a:p>
            <a:pPr indent="0" lvl="0" marL="0" rtl="0" algn="l">
              <a:spcBef>
                <a:spcPts val="1200"/>
              </a:spcBef>
              <a:spcAft>
                <a:spcPts val="0"/>
              </a:spcAft>
              <a:buNone/>
            </a:pPr>
            <a:r>
              <a:rPr lang="en" sz="1700"/>
              <a:t>Can use user authentication via Radius, LDAP, or pfSense local users</a:t>
            </a:r>
            <a:endParaRPr sz="1700"/>
          </a:p>
          <a:p>
            <a:pPr indent="0" lvl="0" marL="0" rtl="0" algn="l">
              <a:spcBef>
                <a:spcPts val="1200"/>
              </a:spcBef>
              <a:spcAft>
                <a:spcPts val="0"/>
              </a:spcAft>
              <a:buNone/>
            </a:pPr>
            <a:r>
              <a:rPr lang="en" sz="1700"/>
              <a:t>Compatible with the OpenVPN client for Windows, macOS, Linux, iOS and </a:t>
            </a:r>
            <a:r>
              <a:rPr lang="en" sz="1700"/>
              <a:t>Android</a:t>
            </a:r>
            <a:r>
              <a:rPr lang="en" sz="1700"/>
              <a:t>. </a:t>
            </a:r>
            <a:endParaRPr sz="1700"/>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a:t>Types of VPN in PfSense</a:t>
            </a:r>
            <a:endParaRPr/>
          </a:p>
          <a:p>
            <a:pPr indent="0" lvl="0" marL="0" rtl="0" algn="l">
              <a:spcBef>
                <a:spcPts val="0"/>
              </a:spcBef>
              <a:spcAft>
                <a:spcPts val="0"/>
              </a:spcAft>
              <a:buNone/>
            </a:pPr>
            <a:r>
              <a:t/>
            </a:r>
            <a:endParaRPr/>
          </a:p>
        </p:txBody>
      </p:sp>
      <p:sp>
        <p:nvSpPr>
          <p:cNvPr id="241" name="Google Shape;241;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WireGuard</a:t>
            </a:r>
            <a:r>
              <a:rPr lang="en" sz="1700"/>
              <a:t> (pfsense 2.5+)</a:t>
            </a:r>
            <a:endParaRPr sz="1700"/>
          </a:p>
          <a:p>
            <a:pPr indent="0" lvl="0" marL="0" rtl="0" algn="l">
              <a:spcBef>
                <a:spcPts val="1200"/>
              </a:spcBef>
              <a:spcAft>
                <a:spcPts val="0"/>
              </a:spcAft>
              <a:buNone/>
            </a:pPr>
            <a:r>
              <a:rPr lang="en" sz="1700"/>
              <a:t>Modern and extremely fast/lightweight VPN </a:t>
            </a:r>
            <a:r>
              <a:rPr lang="en" sz="1700"/>
              <a:t>protocol</a:t>
            </a:r>
            <a:endParaRPr sz="1700"/>
          </a:p>
          <a:p>
            <a:pPr indent="0" lvl="0" marL="0" rtl="0" algn="l">
              <a:spcBef>
                <a:spcPts val="1200"/>
              </a:spcBef>
              <a:spcAft>
                <a:spcPts val="0"/>
              </a:spcAft>
              <a:buNone/>
            </a:pPr>
            <a:r>
              <a:rPr lang="en" sz="1700"/>
              <a:t>Easier to configure than IPsec</a:t>
            </a:r>
            <a:endParaRPr sz="1700"/>
          </a:p>
          <a:p>
            <a:pPr indent="0" lvl="0" marL="0" rtl="0" algn="l">
              <a:spcBef>
                <a:spcPts val="1200"/>
              </a:spcBef>
              <a:spcAft>
                <a:spcPts val="1200"/>
              </a:spcAft>
              <a:buNone/>
            </a:pPr>
            <a:r>
              <a:rPr lang="en" sz="1700"/>
              <a:t>Not natively supported on all </a:t>
            </a:r>
            <a:r>
              <a:rPr lang="en" sz="1700"/>
              <a:t>older</a:t>
            </a:r>
            <a:r>
              <a:rPr lang="en" sz="1700"/>
              <a:t> devices </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Types of VPN in PfSense</a:t>
            </a:r>
            <a:endParaRPr/>
          </a:p>
          <a:p>
            <a:pPr indent="0" lvl="0" marL="0" rtl="0" algn="l">
              <a:spcBef>
                <a:spcPts val="0"/>
              </a:spcBef>
              <a:spcAft>
                <a:spcPts val="0"/>
              </a:spcAft>
              <a:buNone/>
            </a:pPr>
            <a:r>
              <a:t/>
            </a:r>
            <a:endParaRPr/>
          </a:p>
        </p:txBody>
      </p:sp>
      <p:sp>
        <p:nvSpPr>
          <p:cNvPr id="247" name="Google Shape;247;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IPsec </a:t>
            </a:r>
            <a:endParaRPr b="1" sz="1700"/>
          </a:p>
          <a:p>
            <a:pPr indent="0" lvl="0" marL="0" rtl="0" algn="l">
              <a:spcBef>
                <a:spcPts val="1200"/>
              </a:spcBef>
              <a:spcAft>
                <a:spcPts val="0"/>
              </a:spcAft>
              <a:buNone/>
            </a:pPr>
            <a:r>
              <a:rPr lang="en" sz="1700"/>
              <a:t>Standard </a:t>
            </a:r>
            <a:r>
              <a:rPr lang="en" sz="1700"/>
              <a:t>protocol</a:t>
            </a:r>
            <a:r>
              <a:rPr lang="en" sz="1700"/>
              <a:t>, commonly used for site-to-site or with third party firewalls (Cisco,Fortinet)</a:t>
            </a:r>
            <a:endParaRPr sz="1700"/>
          </a:p>
          <a:p>
            <a:pPr indent="0" lvl="0" marL="0" rtl="0" algn="l">
              <a:spcBef>
                <a:spcPts val="1200"/>
              </a:spcBef>
              <a:spcAft>
                <a:spcPts val="0"/>
              </a:spcAft>
              <a:buNone/>
            </a:pPr>
            <a:r>
              <a:rPr lang="en" sz="1700"/>
              <a:t>Slightly more complex to </a:t>
            </a:r>
            <a:r>
              <a:rPr lang="en" sz="1700"/>
              <a:t>configure</a:t>
            </a:r>
            <a:r>
              <a:rPr lang="en" sz="1700"/>
              <a:t> than OpenVPN </a:t>
            </a:r>
            <a:endParaRPr sz="1700"/>
          </a:p>
          <a:p>
            <a:pPr indent="0" lvl="0" marL="0" rtl="0" algn="l">
              <a:spcBef>
                <a:spcPts val="1200"/>
              </a:spcBef>
              <a:spcAft>
                <a:spcPts val="1200"/>
              </a:spcAft>
              <a:buNone/>
            </a:pPr>
            <a:r>
              <a:rPr lang="en" sz="1700"/>
              <a:t>Can also be used with L2TO for road warriors </a:t>
            </a:r>
            <a:endParaRPr sz="1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a:t>Types of VPN in PfSense</a:t>
            </a:r>
            <a:endParaRPr/>
          </a:p>
          <a:p>
            <a:pPr indent="0" lvl="0" marL="0" rtl="0" algn="l">
              <a:spcBef>
                <a:spcPts val="0"/>
              </a:spcBef>
              <a:spcAft>
                <a:spcPts val="0"/>
              </a:spcAft>
              <a:buNone/>
            </a:pPr>
            <a:r>
              <a:t/>
            </a:r>
            <a:endParaRPr/>
          </a:p>
        </p:txBody>
      </p:sp>
      <p:sp>
        <p:nvSpPr>
          <p:cNvPr id="253" name="Google Shape;253;p31"/>
          <p:cNvSpPr txBox="1"/>
          <p:nvPr>
            <p:ph idx="1" type="body"/>
          </p:nvPr>
        </p:nvSpPr>
        <p:spPr>
          <a:xfrm>
            <a:off x="627375" y="192097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L2TP/Ipsec</a:t>
            </a:r>
            <a:endParaRPr b="1" sz="1700"/>
          </a:p>
          <a:p>
            <a:pPr indent="0" lvl="0" marL="0" rtl="0" algn="l">
              <a:spcBef>
                <a:spcPts val="1200"/>
              </a:spcBef>
              <a:spcAft>
                <a:spcPts val="0"/>
              </a:spcAft>
              <a:buNone/>
            </a:pPr>
            <a:r>
              <a:rPr lang="en" sz="1700"/>
              <a:t>Deprecated</a:t>
            </a:r>
            <a:r>
              <a:rPr lang="en" sz="1700"/>
              <a:t> in many cases, but still available</a:t>
            </a:r>
            <a:endParaRPr sz="1700"/>
          </a:p>
          <a:p>
            <a:pPr indent="0" lvl="0" marL="0" rtl="0" algn="l">
              <a:spcBef>
                <a:spcPts val="1200"/>
              </a:spcBef>
              <a:spcAft>
                <a:spcPts val="0"/>
              </a:spcAft>
              <a:buNone/>
            </a:pPr>
            <a:r>
              <a:rPr lang="en" sz="1700"/>
              <a:t>Can </a:t>
            </a:r>
            <a:r>
              <a:rPr lang="en" sz="1700"/>
              <a:t>work with</a:t>
            </a:r>
            <a:r>
              <a:rPr lang="en" sz="1700"/>
              <a:t> built-in clients on Windows/MacOS</a:t>
            </a:r>
            <a:endParaRPr sz="1700"/>
          </a:p>
          <a:p>
            <a:pPr indent="0" lvl="0" marL="0" rtl="0" algn="l">
              <a:spcBef>
                <a:spcPts val="1200"/>
              </a:spcBef>
              <a:spcAft>
                <a:spcPts val="0"/>
              </a:spcAft>
              <a:buNone/>
            </a:pPr>
            <a:r>
              <a:rPr lang="en" sz="1700"/>
              <a:t>Less secure than OpenVPN or WireGuard</a:t>
            </a:r>
            <a:endParaRPr sz="1700"/>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2" title="1200px-PfSense_logo.png"/>
          <p:cNvPicPr preferRelativeResize="0"/>
          <p:nvPr/>
        </p:nvPicPr>
        <p:blipFill>
          <a:blip r:embed="rId3">
            <a:alphaModFix/>
          </a:blip>
          <a:stretch>
            <a:fillRect/>
          </a:stretch>
        </p:blipFill>
        <p:spPr>
          <a:xfrm>
            <a:off x="245078" y="1281925"/>
            <a:ext cx="3473349" cy="1021750"/>
          </a:xfrm>
          <a:prstGeom prst="rect">
            <a:avLst/>
          </a:prstGeom>
          <a:noFill/>
          <a:ln>
            <a:noFill/>
          </a:ln>
        </p:spPr>
      </p:pic>
      <p:sp>
        <p:nvSpPr>
          <p:cNvPr id="259" name="Google Shape;259;p32"/>
          <p:cNvSpPr txBox="1"/>
          <p:nvPr>
            <p:ph type="ctrTitle"/>
          </p:nvPr>
        </p:nvSpPr>
        <p:spPr>
          <a:xfrm>
            <a:off x="4377850" y="2031000"/>
            <a:ext cx="4411200" cy="1510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l">
              <a:lnSpc>
                <a:spcPct val="100000"/>
              </a:lnSpc>
              <a:spcBef>
                <a:spcPts val="1200"/>
              </a:spcBef>
              <a:spcAft>
                <a:spcPts val="0"/>
              </a:spcAft>
              <a:buNone/>
            </a:pPr>
            <a:r>
              <a:rPr b="1" lang="en" sz="1655">
                <a:solidFill>
                  <a:srgbClr val="000000"/>
                </a:solidFill>
                <a:latin typeface="Arial"/>
                <a:ea typeface="Arial"/>
                <a:cs typeface="Arial"/>
                <a:sym typeface="Arial"/>
              </a:rPr>
              <a:t>                </a:t>
            </a:r>
            <a:endParaRPr b="1" sz="1655">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t/>
            </a:r>
            <a:endParaRPr b="1" sz="1655">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t/>
            </a:r>
            <a:endParaRPr b="1" sz="1655">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t/>
            </a:r>
            <a:endParaRPr b="1" sz="1655">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3211">
                <a:highlight>
                  <a:schemeClr val="dk1"/>
                </a:highlight>
              </a:rPr>
              <a:t>Routing Fundamentals &amp; </a:t>
            </a:r>
            <a:r>
              <a:rPr lang="en" sz="3211">
                <a:highlight>
                  <a:schemeClr val="dk1"/>
                </a:highlight>
              </a:rPr>
              <a:t>Implementation with pfSense+</a:t>
            </a:r>
            <a:endParaRPr sz="3211">
              <a:highlight>
                <a:schemeClr val="dk1"/>
              </a:highlight>
            </a:endParaRPr>
          </a:p>
          <a:p>
            <a:pPr indent="0" lvl="0" marL="0" rtl="0" algn="l">
              <a:lnSpc>
                <a:spcPct val="100000"/>
              </a:lnSpc>
              <a:spcBef>
                <a:spcPts val="1200"/>
              </a:spcBef>
              <a:spcAft>
                <a:spcPts val="0"/>
              </a:spcAft>
              <a:buNone/>
            </a:pPr>
            <a:r>
              <a:rPr b="1" lang="en" sz="3211">
                <a:highlight>
                  <a:schemeClr val="dk1"/>
                </a:highlight>
              </a:rPr>
              <a:t>                           </a:t>
            </a:r>
            <a:endParaRPr b="1" sz="3211">
              <a:highlight>
                <a:schemeClr val="dk1"/>
              </a:highlight>
            </a:endParaRPr>
          </a:p>
          <a:p>
            <a:pPr indent="0" lvl="0" marL="0" rtl="0" algn="l">
              <a:spcBef>
                <a:spcPts val="1200"/>
              </a:spcBef>
              <a:spcAft>
                <a:spcPts val="0"/>
              </a:spcAft>
              <a:buNone/>
            </a:pPr>
            <a:r>
              <a:t/>
            </a:r>
            <a:endParaRPr/>
          </a:p>
          <a:p>
            <a:pPr indent="0" lvl="0" marL="0" rtl="0" algn="ctr">
              <a:spcBef>
                <a:spcPts val="0"/>
              </a:spcBef>
              <a:spcAft>
                <a:spcPts val="0"/>
              </a:spcAft>
              <a:buNone/>
            </a:pPr>
            <a:r>
              <a:t/>
            </a:r>
            <a:endParaRPr/>
          </a:p>
        </p:txBody>
      </p:sp>
      <p:sp>
        <p:nvSpPr>
          <p:cNvPr id="260" name="Google Shape;260;p32"/>
          <p:cNvSpPr txBox="1"/>
          <p:nvPr>
            <p:ph idx="1" type="subTitle"/>
          </p:nvPr>
        </p:nvSpPr>
        <p:spPr>
          <a:xfrm>
            <a:off x="6075825" y="4410200"/>
            <a:ext cx="2839500" cy="501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440"/>
              <a:buNone/>
            </a:pPr>
            <a:r>
              <a:rPr lang="en" sz="2280">
                <a:latin typeface="Nunito"/>
                <a:ea typeface="Nunito"/>
                <a:cs typeface="Nunito"/>
                <a:sym typeface="Nunito"/>
              </a:rPr>
              <a:t>Abdirahman Aynab</a:t>
            </a:r>
            <a:endParaRPr sz="2280">
              <a:latin typeface="Nunito"/>
              <a:ea typeface="Nunito"/>
              <a:cs typeface="Nunito"/>
              <a:sym typeface="Nunito"/>
            </a:endParaRPr>
          </a:p>
          <a:p>
            <a:pPr indent="0" lvl="0" marL="0" rtl="0" algn="ctr">
              <a:lnSpc>
                <a:spcPct val="80000"/>
              </a:lnSpc>
              <a:spcBef>
                <a:spcPts val="0"/>
              </a:spcBef>
              <a:spcAft>
                <a:spcPts val="0"/>
              </a:spcAft>
              <a:buSzPts val="440"/>
              <a:buNone/>
            </a:pPr>
            <a:r>
              <a:t/>
            </a:r>
            <a:endParaRPr sz="2280">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2132100" y="448075"/>
            <a:ext cx="48798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t>
            </a:r>
            <a:r>
              <a:rPr lang="en"/>
              <a:t>fSense Routing Interfaces </a:t>
            </a:r>
            <a:endParaRPr/>
          </a:p>
        </p:txBody>
      </p:sp>
      <p:sp>
        <p:nvSpPr>
          <p:cNvPr id="266" name="Google Shape;266;p33"/>
          <p:cNvSpPr txBox="1"/>
          <p:nvPr/>
        </p:nvSpPr>
        <p:spPr>
          <a:xfrm>
            <a:off x="518150" y="1226825"/>
            <a:ext cx="80391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Calibri"/>
                <a:ea typeface="Calibri"/>
                <a:cs typeface="Calibri"/>
                <a:sym typeface="Calibri"/>
              </a:rPr>
              <a:t>WAN:</a:t>
            </a:r>
            <a:r>
              <a:rPr lang="en" sz="2100">
                <a:latin typeface="Calibri"/>
                <a:ea typeface="Calibri"/>
                <a:cs typeface="Calibri"/>
                <a:sym typeface="Calibri"/>
              </a:rPr>
              <a:t> In pfSense, the WAN (Wide Area Network) interface represents the external network connection — typically your internet connection from an ISP. It’s where your firewall connects to the outside world.</a:t>
            </a:r>
            <a:endParaRPr sz="2100">
              <a:latin typeface="Calibri"/>
              <a:ea typeface="Calibri"/>
              <a:cs typeface="Calibri"/>
              <a:sym typeface="Calibri"/>
            </a:endParaRPr>
          </a:p>
          <a:p>
            <a:pPr indent="0" lvl="0" marL="0" rtl="0" algn="l">
              <a:spcBef>
                <a:spcPts val="0"/>
              </a:spcBef>
              <a:spcAft>
                <a:spcPts val="0"/>
              </a:spcAft>
              <a:buNone/>
            </a:pPr>
            <a:r>
              <a:t/>
            </a:r>
            <a:endParaRPr sz="2100">
              <a:latin typeface="Calibri"/>
              <a:ea typeface="Calibri"/>
              <a:cs typeface="Calibri"/>
              <a:sym typeface="Calibri"/>
            </a:endParaRPr>
          </a:p>
          <a:p>
            <a:pPr indent="0" lvl="0" marL="0" rtl="0" algn="l">
              <a:spcBef>
                <a:spcPts val="0"/>
              </a:spcBef>
              <a:spcAft>
                <a:spcPts val="0"/>
              </a:spcAft>
              <a:buNone/>
            </a:pPr>
            <a:r>
              <a:rPr b="1" lang="en" sz="2100">
                <a:latin typeface="Calibri"/>
                <a:ea typeface="Calibri"/>
                <a:cs typeface="Calibri"/>
                <a:sym typeface="Calibri"/>
              </a:rPr>
              <a:t>LAN: </a:t>
            </a:r>
            <a:r>
              <a:rPr lang="en" sz="2100">
                <a:latin typeface="Calibri"/>
                <a:ea typeface="Calibri"/>
                <a:cs typeface="Calibri"/>
                <a:sym typeface="Calibri"/>
              </a:rPr>
              <a:t>In pfSense, the LAN (Local Area Network) interface represents your internal/private network — where your trusted devices like computers, printers, and servers are connected. It’s the default interface that pfSense uses to provide routing, DHCP, DNS, firewall protection, and internet access to your local devices.</a:t>
            </a:r>
            <a:endParaRPr sz="2100">
              <a:latin typeface="Calibri"/>
              <a:ea typeface="Calibri"/>
              <a:cs typeface="Calibri"/>
              <a:sym typeface="Calibri"/>
            </a:endParaRPr>
          </a:p>
          <a:p>
            <a:pPr indent="0" lvl="0" marL="0" rtl="0" algn="l">
              <a:spcBef>
                <a:spcPts val="0"/>
              </a:spcBef>
              <a:spcAft>
                <a:spcPts val="0"/>
              </a:spcAft>
              <a:buNone/>
            </a:pPr>
            <a:r>
              <a:t/>
            </a:r>
            <a:endParaRPr sz="2000">
              <a:solidFill>
                <a:schemeClr val="dk2"/>
              </a:solidFill>
              <a:latin typeface="Nunito"/>
              <a:ea typeface="Nunito"/>
              <a:cs typeface="Nunito"/>
              <a:sym typeface="Nunito"/>
            </a:endParaRPr>
          </a:p>
        </p:txBody>
      </p:sp>
      <p:sp>
        <p:nvSpPr>
          <p:cNvPr id="267" name="Google Shape;267;p33"/>
          <p:cNvSpPr txBox="1"/>
          <p:nvPr/>
        </p:nvSpPr>
        <p:spPr>
          <a:xfrm>
            <a:off x="1489700" y="1531625"/>
            <a:ext cx="7692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type="title"/>
          </p:nvPr>
        </p:nvSpPr>
        <p:spPr>
          <a:xfrm>
            <a:off x="2428200" y="424175"/>
            <a:ext cx="42876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00"/>
              <a:t>p</a:t>
            </a:r>
            <a:r>
              <a:rPr lang="en" sz="2900"/>
              <a:t>fSense Implementation</a:t>
            </a:r>
            <a:endParaRPr sz="2900"/>
          </a:p>
        </p:txBody>
      </p:sp>
      <p:sp>
        <p:nvSpPr>
          <p:cNvPr id="273" name="Google Shape;273;p34"/>
          <p:cNvSpPr txBox="1"/>
          <p:nvPr/>
        </p:nvSpPr>
        <p:spPr>
          <a:xfrm>
            <a:off x="368400" y="1265850"/>
            <a:ext cx="8407200" cy="336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100">
                <a:latin typeface="Calibri"/>
                <a:ea typeface="Calibri"/>
                <a:cs typeface="Calibri"/>
                <a:sym typeface="Calibri"/>
              </a:rPr>
              <a:t>Static Routing</a:t>
            </a:r>
            <a:r>
              <a:rPr lang="en" sz="2100">
                <a:latin typeface="Calibri"/>
                <a:ea typeface="Calibri"/>
                <a:cs typeface="Calibri"/>
                <a:sym typeface="Calibri"/>
              </a:rPr>
              <a:t>:</a:t>
            </a:r>
            <a:endParaRPr sz="2100">
              <a:latin typeface="Calibri"/>
              <a:ea typeface="Calibri"/>
              <a:cs typeface="Calibri"/>
              <a:sym typeface="Calibri"/>
            </a:endParaRPr>
          </a:p>
          <a:p>
            <a:pPr indent="0" lvl="0" marL="0" rtl="0" algn="l">
              <a:lnSpc>
                <a:spcPct val="115000"/>
              </a:lnSpc>
              <a:spcBef>
                <a:spcPts val="1200"/>
              </a:spcBef>
              <a:spcAft>
                <a:spcPts val="0"/>
              </a:spcAft>
              <a:buNone/>
            </a:pPr>
            <a:r>
              <a:rPr lang="en" sz="2100">
                <a:latin typeface="Calibri"/>
                <a:ea typeface="Calibri"/>
                <a:cs typeface="Calibri"/>
                <a:sym typeface="Calibri"/>
              </a:rPr>
              <a:t>Configured under </a:t>
            </a:r>
            <a:r>
              <a:rPr b="1" lang="en" sz="2100">
                <a:latin typeface="Calibri"/>
                <a:ea typeface="Calibri"/>
                <a:cs typeface="Calibri"/>
                <a:sym typeface="Calibri"/>
              </a:rPr>
              <a:t>System → Routing → Static Routes</a:t>
            </a:r>
            <a:r>
              <a:rPr lang="en" sz="2100">
                <a:latin typeface="Calibri"/>
                <a:ea typeface="Calibri"/>
                <a:cs typeface="Calibri"/>
                <a:sym typeface="Calibri"/>
              </a:rPr>
              <a:t>.</a:t>
            </a:r>
            <a:endParaRPr sz="2100">
              <a:latin typeface="Calibri"/>
              <a:ea typeface="Calibri"/>
              <a:cs typeface="Calibri"/>
              <a:sym typeface="Calibri"/>
            </a:endParaRPr>
          </a:p>
          <a:p>
            <a:pPr indent="0" lvl="0" marL="0" rtl="0" algn="l">
              <a:lnSpc>
                <a:spcPct val="115000"/>
              </a:lnSpc>
              <a:spcBef>
                <a:spcPts val="1200"/>
              </a:spcBef>
              <a:spcAft>
                <a:spcPts val="0"/>
              </a:spcAft>
              <a:buNone/>
            </a:pPr>
            <a:r>
              <a:rPr lang="en" sz="2100">
                <a:latin typeface="Calibri"/>
                <a:ea typeface="Calibri"/>
                <a:cs typeface="Calibri"/>
                <a:sym typeface="Calibri"/>
              </a:rPr>
              <a:t>(Must Specify)</a:t>
            </a:r>
            <a:endParaRPr sz="2100">
              <a:latin typeface="Calibri"/>
              <a:ea typeface="Calibri"/>
              <a:cs typeface="Calibri"/>
              <a:sym typeface="Calibri"/>
            </a:endParaRPr>
          </a:p>
          <a:p>
            <a:pPr indent="-361950" lvl="0" marL="457200" rtl="0" algn="l">
              <a:lnSpc>
                <a:spcPct val="115000"/>
              </a:lnSpc>
              <a:spcBef>
                <a:spcPts val="1200"/>
              </a:spcBef>
              <a:spcAft>
                <a:spcPts val="0"/>
              </a:spcAft>
              <a:buSzPts val="2100"/>
              <a:buFont typeface="Calibri"/>
              <a:buAutoNum type="arabicPeriod"/>
            </a:pPr>
            <a:r>
              <a:rPr lang="en" sz="2100">
                <a:latin typeface="Calibri"/>
                <a:ea typeface="Calibri"/>
                <a:cs typeface="Calibri"/>
                <a:sym typeface="Calibri"/>
              </a:rPr>
              <a:t>Destination network </a:t>
            </a:r>
            <a:endParaRPr sz="2200">
              <a:latin typeface="Calibri"/>
              <a:ea typeface="Calibri"/>
              <a:cs typeface="Calibri"/>
              <a:sym typeface="Calibri"/>
            </a:endParaRPr>
          </a:p>
          <a:p>
            <a:pPr indent="-361950" lvl="0" marL="457200" rtl="0" algn="l">
              <a:lnSpc>
                <a:spcPct val="115000"/>
              </a:lnSpc>
              <a:spcBef>
                <a:spcPts val="0"/>
              </a:spcBef>
              <a:spcAft>
                <a:spcPts val="0"/>
              </a:spcAft>
              <a:buSzPts val="2100"/>
              <a:buFont typeface="Calibri"/>
              <a:buAutoNum type="arabicPeriod"/>
            </a:pPr>
            <a:r>
              <a:rPr lang="en" sz="2100">
                <a:latin typeface="Calibri"/>
                <a:ea typeface="Calibri"/>
                <a:cs typeface="Calibri"/>
                <a:sym typeface="Calibri"/>
              </a:rPr>
              <a:t>Subnet mask</a:t>
            </a:r>
            <a:endParaRPr sz="2100">
              <a:latin typeface="Calibri"/>
              <a:ea typeface="Calibri"/>
              <a:cs typeface="Calibri"/>
              <a:sym typeface="Calibri"/>
            </a:endParaRPr>
          </a:p>
          <a:p>
            <a:pPr indent="-361950" lvl="0" marL="457200" rtl="0" algn="l">
              <a:lnSpc>
                <a:spcPct val="115000"/>
              </a:lnSpc>
              <a:spcBef>
                <a:spcPts val="0"/>
              </a:spcBef>
              <a:spcAft>
                <a:spcPts val="0"/>
              </a:spcAft>
              <a:buSzPts val="2100"/>
              <a:buFont typeface="Calibri"/>
              <a:buAutoNum type="arabicPeriod"/>
            </a:pPr>
            <a:r>
              <a:rPr lang="en" sz="2100">
                <a:latin typeface="Calibri"/>
                <a:ea typeface="Calibri"/>
                <a:cs typeface="Calibri"/>
                <a:sym typeface="Calibri"/>
              </a:rPr>
              <a:t>Gateway</a:t>
            </a:r>
            <a:endParaRPr sz="2100">
              <a:latin typeface="Calibri"/>
              <a:ea typeface="Calibri"/>
              <a:cs typeface="Calibri"/>
              <a:sym typeface="Calibri"/>
            </a:endParaRPr>
          </a:p>
          <a:p>
            <a:pPr indent="-361950" lvl="0" marL="457200" rtl="0" algn="l">
              <a:lnSpc>
                <a:spcPct val="115000"/>
              </a:lnSpc>
              <a:spcBef>
                <a:spcPts val="0"/>
              </a:spcBef>
              <a:spcAft>
                <a:spcPts val="0"/>
              </a:spcAft>
              <a:buSzPts val="2100"/>
              <a:buFont typeface="Nunito"/>
              <a:buAutoNum type="arabicPeriod"/>
            </a:pPr>
            <a:r>
              <a:rPr lang="en" sz="2100">
                <a:latin typeface="Calibri"/>
                <a:ea typeface="Calibri"/>
                <a:cs typeface="Calibri"/>
                <a:sym typeface="Calibri"/>
              </a:rPr>
              <a:t>Apply Settings to update and save.</a:t>
            </a:r>
            <a:r>
              <a:rPr lang="en" sz="2100">
                <a:latin typeface="Nunito"/>
                <a:ea typeface="Nunito"/>
                <a:cs typeface="Nunito"/>
                <a:sym typeface="Nunito"/>
              </a:rPr>
              <a:t> </a:t>
            </a:r>
            <a:endParaRPr sz="1300">
              <a:solidFill>
                <a:schemeClr val="dk2"/>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2512375" y="403025"/>
            <a:ext cx="43365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222"/>
              <a:t>PfSense Implementation</a:t>
            </a:r>
            <a:endParaRPr sz="3222"/>
          </a:p>
        </p:txBody>
      </p:sp>
      <p:sp>
        <p:nvSpPr>
          <p:cNvPr id="279" name="Google Shape;279;p35"/>
          <p:cNvSpPr txBox="1"/>
          <p:nvPr/>
        </p:nvSpPr>
        <p:spPr>
          <a:xfrm>
            <a:off x="517375" y="1550125"/>
            <a:ext cx="8326500" cy="32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280" name="Google Shape;280;p35"/>
          <p:cNvSpPr txBox="1"/>
          <p:nvPr/>
        </p:nvSpPr>
        <p:spPr>
          <a:xfrm>
            <a:off x="676500" y="1152350"/>
            <a:ext cx="7791000" cy="326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900">
                <a:latin typeface="Calibri"/>
                <a:ea typeface="Calibri"/>
                <a:cs typeface="Calibri"/>
                <a:sym typeface="Calibri"/>
              </a:rPr>
              <a:t>Dynamic Routing</a:t>
            </a:r>
            <a:r>
              <a:rPr lang="en" sz="1900">
                <a:latin typeface="Calibri"/>
                <a:ea typeface="Calibri"/>
                <a:cs typeface="Calibri"/>
                <a:sym typeface="Calibri"/>
              </a:rPr>
              <a:t> </a:t>
            </a:r>
            <a:endParaRPr sz="1900">
              <a:latin typeface="Calibri"/>
              <a:ea typeface="Calibri"/>
              <a:cs typeface="Calibri"/>
              <a:sym typeface="Calibri"/>
            </a:endParaRPr>
          </a:p>
          <a:p>
            <a:pPr indent="0" lvl="0" marL="0" rtl="0" algn="l">
              <a:lnSpc>
                <a:spcPct val="115000"/>
              </a:lnSpc>
              <a:spcBef>
                <a:spcPts val="1200"/>
              </a:spcBef>
              <a:spcAft>
                <a:spcPts val="0"/>
              </a:spcAft>
              <a:buNone/>
            </a:pPr>
            <a:r>
              <a:rPr lang="en" sz="1900">
                <a:latin typeface="Calibri"/>
                <a:ea typeface="Calibri"/>
                <a:cs typeface="Calibri"/>
                <a:sym typeface="Calibri"/>
              </a:rPr>
              <a:t>(via packages):</a:t>
            </a:r>
            <a:endParaRPr sz="1900">
              <a:latin typeface="Calibri"/>
              <a:ea typeface="Calibri"/>
              <a:cs typeface="Calibri"/>
              <a:sym typeface="Calibri"/>
            </a:endParaRPr>
          </a:p>
          <a:p>
            <a:pPr indent="0" lvl="0" marL="0" rtl="0" algn="l">
              <a:lnSpc>
                <a:spcPct val="115000"/>
              </a:lnSpc>
              <a:spcBef>
                <a:spcPts val="1200"/>
              </a:spcBef>
              <a:spcAft>
                <a:spcPts val="0"/>
              </a:spcAft>
              <a:buNone/>
            </a:pPr>
            <a:r>
              <a:rPr b="1" lang="en" sz="1900">
                <a:latin typeface="Calibri"/>
                <a:ea typeface="Calibri"/>
                <a:cs typeface="Calibri"/>
                <a:sym typeface="Calibri"/>
              </a:rPr>
              <a:t>OSPF</a:t>
            </a:r>
            <a:r>
              <a:rPr lang="en" sz="1900">
                <a:latin typeface="Calibri"/>
                <a:ea typeface="Calibri"/>
                <a:cs typeface="Calibri"/>
                <a:sym typeface="Calibri"/>
              </a:rPr>
              <a:t>(Open Shortest Path First)</a:t>
            </a:r>
            <a:endParaRPr sz="1900">
              <a:latin typeface="Calibri"/>
              <a:ea typeface="Calibri"/>
              <a:cs typeface="Calibri"/>
              <a:sym typeface="Calibri"/>
            </a:endParaRPr>
          </a:p>
          <a:p>
            <a:pPr indent="0" lvl="0" marL="0" rtl="0" algn="l">
              <a:lnSpc>
                <a:spcPct val="115000"/>
              </a:lnSpc>
              <a:spcBef>
                <a:spcPts val="1200"/>
              </a:spcBef>
              <a:spcAft>
                <a:spcPts val="0"/>
              </a:spcAft>
              <a:buNone/>
            </a:pPr>
            <a:r>
              <a:rPr b="1" lang="en" sz="1900">
                <a:latin typeface="Calibri"/>
                <a:ea typeface="Calibri"/>
                <a:cs typeface="Calibri"/>
                <a:sym typeface="Calibri"/>
              </a:rPr>
              <a:t>BGP</a:t>
            </a:r>
            <a:r>
              <a:rPr lang="en" sz="1900">
                <a:highlight>
                  <a:schemeClr val="dk1"/>
                </a:highlight>
                <a:latin typeface="Calibri"/>
                <a:ea typeface="Calibri"/>
                <a:cs typeface="Calibri"/>
                <a:sym typeface="Calibri"/>
              </a:rPr>
              <a:t>(</a:t>
            </a:r>
            <a:r>
              <a:rPr lang="en" sz="1900">
                <a:latin typeface="Calibri"/>
                <a:ea typeface="Calibri"/>
                <a:cs typeface="Calibri"/>
                <a:sym typeface="Calibri"/>
              </a:rPr>
              <a:t>Border Gateway Protocol)</a:t>
            </a:r>
            <a:endParaRPr sz="1900">
              <a:latin typeface="Calibri"/>
              <a:ea typeface="Calibri"/>
              <a:cs typeface="Calibri"/>
              <a:sym typeface="Calibri"/>
            </a:endParaRPr>
          </a:p>
          <a:p>
            <a:pPr indent="0" lvl="0" marL="0" rtl="0" algn="l">
              <a:lnSpc>
                <a:spcPct val="115000"/>
              </a:lnSpc>
              <a:spcBef>
                <a:spcPts val="1200"/>
              </a:spcBef>
              <a:spcAft>
                <a:spcPts val="0"/>
              </a:spcAft>
              <a:buNone/>
            </a:pPr>
            <a:r>
              <a:rPr b="1" lang="en" sz="1900">
                <a:latin typeface="Calibri"/>
                <a:ea typeface="Calibri"/>
                <a:cs typeface="Calibri"/>
                <a:sym typeface="Calibri"/>
              </a:rPr>
              <a:t>RIP</a:t>
            </a:r>
            <a:r>
              <a:rPr lang="en" sz="1900">
                <a:latin typeface="Calibri"/>
                <a:ea typeface="Calibri"/>
                <a:cs typeface="Calibri"/>
                <a:sym typeface="Calibri"/>
              </a:rPr>
              <a:t>(Routing Information Protocol)</a:t>
            </a:r>
            <a:endParaRPr sz="1900">
              <a:latin typeface="Calibri"/>
              <a:ea typeface="Calibri"/>
              <a:cs typeface="Calibri"/>
              <a:sym typeface="Calibri"/>
            </a:endParaRPr>
          </a:p>
          <a:p>
            <a:pPr indent="0" lvl="0" marL="0" rtl="0" algn="l">
              <a:lnSpc>
                <a:spcPct val="115000"/>
              </a:lnSpc>
              <a:spcBef>
                <a:spcPts val="1200"/>
              </a:spcBef>
              <a:spcAft>
                <a:spcPts val="1200"/>
              </a:spcAft>
              <a:buNone/>
            </a:pPr>
            <a:r>
              <a:rPr b="1" lang="en" sz="1900">
                <a:latin typeface="Calibri"/>
                <a:ea typeface="Calibri"/>
                <a:cs typeface="Calibri"/>
                <a:sym typeface="Calibri"/>
              </a:rPr>
              <a:t>FRR</a:t>
            </a:r>
            <a:r>
              <a:rPr lang="en" sz="1900">
                <a:latin typeface="Calibri"/>
                <a:ea typeface="Calibri"/>
                <a:cs typeface="Calibri"/>
                <a:sym typeface="Calibri"/>
              </a:rPr>
              <a:t>(Free Range Routing) package.</a:t>
            </a:r>
            <a:br>
              <a:rPr lang="en" sz="1900">
                <a:latin typeface="Calibri"/>
                <a:ea typeface="Calibri"/>
                <a:cs typeface="Calibri"/>
                <a:sym typeface="Calibri"/>
              </a:rPr>
            </a:br>
            <a:r>
              <a:rPr lang="en" sz="1900">
                <a:latin typeface="Calibri"/>
                <a:ea typeface="Calibri"/>
                <a:cs typeface="Calibri"/>
                <a:sym typeface="Calibri"/>
              </a:rPr>
              <a:t>Offers dynamic path adjustments based on network changes</a:t>
            </a:r>
            <a:endParaRPr sz="1300">
              <a:solidFill>
                <a:schemeClr val="dk2"/>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pfSense Demonstration</a:t>
            </a:r>
            <a:endParaRPr/>
          </a:p>
        </p:txBody>
      </p:sp>
      <p:sp>
        <p:nvSpPr>
          <p:cNvPr id="286" name="Google Shape;286;p36"/>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Ben Widrig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819150" y="845600"/>
            <a:ext cx="7505700" cy="59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 Preview</a:t>
            </a:r>
            <a:endParaRPr/>
          </a:p>
        </p:txBody>
      </p:sp>
      <p:sp>
        <p:nvSpPr>
          <p:cNvPr id="292" name="Google Shape;292;p37"/>
          <p:cNvSpPr txBox="1"/>
          <p:nvPr/>
        </p:nvSpPr>
        <p:spPr>
          <a:xfrm>
            <a:off x="843475" y="1571925"/>
            <a:ext cx="7913400" cy="31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Calibri"/>
                <a:ea typeface="Calibri"/>
                <a:cs typeface="Calibri"/>
                <a:sym typeface="Calibri"/>
              </a:rPr>
              <a:t>In the Demo, we will show how to:</a:t>
            </a:r>
            <a:endParaRPr sz="18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342900" lvl="0" marL="457200" rtl="0" algn="l">
              <a:lnSpc>
                <a:spcPct val="150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Access the pfSense interface</a:t>
            </a:r>
            <a:endParaRPr sz="1800">
              <a:solidFill>
                <a:schemeClr val="dk2"/>
              </a:solidFill>
              <a:latin typeface="Calibri"/>
              <a:ea typeface="Calibri"/>
              <a:cs typeface="Calibri"/>
              <a:sym typeface="Calibri"/>
            </a:endParaRPr>
          </a:p>
          <a:p>
            <a:pPr indent="-342900" lvl="0" marL="457200" rtl="0" algn="l">
              <a:lnSpc>
                <a:spcPct val="150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Use pfSense as a router</a:t>
            </a:r>
            <a:endParaRPr sz="1800">
              <a:solidFill>
                <a:schemeClr val="dk2"/>
              </a:solidFill>
              <a:latin typeface="Calibri"/>
              <a:ea typeface="Calibri"/>
              <a:cs typeface="Calibri"/>
              <a:sym typeface="Calibri"/>
            </a:endParaRPr>
          </a:p>
          <a:p>
            <a:pPr indent="-342900" lvl="0" marL="457200" rtl="0" algn="l">
              <a:lnSpc>
                <a:spcPct val="150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Use pfSense as a firewall</a:t>
            </a:r>
            <a:endParaRPr sz="1800">
              <a:solidFill>
                <a:schemeClr val="dk2"/>
              </a:solidFill>
              <a:latin typeface="Calibri"/>
              <a:ea typeface="Calibri"/>
              <a:cs typeface="Calibri"/>
              <a:sym typeface="Calibri"/>
            </a:endParaRPr>
          </a:p>
          <a:p>
            <a:pPr indent="-342900" lvl="0" marL="457200" rtl="0" algn="l">
              <a:lnSpc>
                <a:spcPct val="150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Set up a VPN </a:t>
            </a:r>
            <a:r>
              <a:rPr lang="en" sz="1800">
                <a:solidFill>
                  <a:schemeClr val="dk2"/>
                </a:solidFill>
                <a:latin typeface="Calibri"/>
                <a:ea typeface="Calibri"/>
                <a:cs typeface="Calibri"/>
                <a:sym typeface="Calibri"/>
              </a:rPr>
              <a:t>with</a:t>
            </a:r>
            <a:r>
              <a:rPr lang="en" sz="1800">
                <a:solidFill>
                  <a:schemeClr val="dk2"/>
                </a:solidFill>
                <a:latin typeface="Calibri"/>
                <a:ea typeface="Calibri"/>
                <a:cs typeface="Calibri"/>
                <a:sym typeface="Calibri"/>
              </a:rPr>
              <a:t> pfSense</a:t>
            </a:r>
            <a:endParaRPr sz="1800">
              <a:solidFill>
                <a:schemeClr val="dk2"/>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885713" y="4827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a:t>
            </a:r>
            <a:endParaRPr/>
          </a:p>
        </p:txBody>
      </p:sp>
      <p:pic>
        <p:nvPicPr>
          <p:cNvPr id="298" name="Google Shape;298;p38" title="Copy of 2025-06-08 23-44-11.mkv">
            <a:hlinkClick r:id="rId3"/>
          </p:cNvPr>
          <p:cNvPicPr preferRelativeResize="0"/>
          <p:nvPr/>
        </p:nvPicPr>
        <p:blipFill>
          <a:blip r:embed="rId4">
            <a:alphaModFix/>
          </a:blip>
          <a:stretch>
            <a:fillRect/>
          </a:stretch>
        </p:blipFill>
        <p:spPr>
          <a:xfrm>
            <a:off x="1937675" y="1546200"/>
            <a:ext cx="5401779" cy="3038501"/>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